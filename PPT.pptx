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erif SemiBold" panose="020B0604020202020204" charset="0"/>
      <p:regular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5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782564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Intelligent Waste Management System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3255070"/>
            <a:ext cx="6223638" cy="1820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Using IoT Sensors for Bin Fill Level Monitoring and Automated Collection Alerts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IoT-based solution for intelligent, efficient, and sustainable waste collection — continuously monitoring bin fill levels and automatically generating collection alerts to support cleaner urban environments.</a:t>
            </a:r>
            <a:endParaRPr lang="en-US" sz="15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9F6F1-2667-F1A6-DA64-C3DBA5C4BAF3}"/>
              </a:ext>
            </a:extLst>
          </p:cNvPr>
          <p:cNvSpPr txBox="1"/>
          <p:nvPr/>
        </p:nvSpPr>
        <p:spPr>
          <a:xfrm>
            <a:off x="9528629" y="6155598"/>
            <a:ext cx="2688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AKKIREDDY PAVAN KALYAN</a:t>
            </a:r>
            <a:br>
              <a:rPr lang="en-IN" dirty="0"/>
            </a:br>
            <a:r>
              <a:rPr lang="en-IN" dirty="0"/>
              <a:t>323129520022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" y="482699"/>
            <a:ext cx="4419192" cy="5892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87871"/>
            <a:ext cx="6223638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269971" y="1329234"/>
            <a:ext cx="2925590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The Core Challenge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269971" y="1670645"/>
            <a:ext cx="2925590" cy="1078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Efficient waste collection is essential for maintaining clean urban environments and improving public health. Yet most cities still rely on outdated, fixed-schedule collection systems.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69971" y="2880122"/>
            <a:ext cx="2925590" cy="1148953"/>
          </a:xfrm>
          <a:prstGeom prst="roundRect">
            <a:avLst>
              <a:gd name="adj" fmla="val 5583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665" y="3053854"/>
            <a:ext cx="190892" cy="1526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66251" y="3023394"/>
            <a:ext cx="2276616" cy="862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 schedules cause bins to overflow before the next collection — or waste trips on partially filled bins.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574369" y="1329234"/>
            <a:ext cx="2925590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Why Traditional Systems Fall Short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4369" y="1909763"/>
            <a:ext cx="2925590" cy="13317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22311" y="2081510"/>
            <a:ext cx="250590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Overflow Risk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822311" y="2422922"/>
            <a:ext cx="2505905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Bins fill up before the scheduled collection, causing spillage and hygiene issues.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4369" y="3358356"/>
            <a:ext cx="2925590" cy="13317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22311" y="3530104"/>
            <a:ext cx="250590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Wasted Resources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822311" y="3871516"/>
            <a:ext cx="2505905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Collection vehicles are dispatched to partially filled bins, wasting fuel and labor.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4369" y="4806950"/>
            <a:ext cx="2925590" cy="133171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822311" y="4978698"/>
            <a:ext cx="250590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No Real-Time Visibility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8822311" y="5320109"/>
            <a:ext cx="2505905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Municipal authorities lack live data to make informed, dynamic collection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0685"/>
            <a:ext cx="10795524" cy="330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Proposed Solution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98086" y="1016893"/>
            <a:ext cx="1140510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8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Intelligent Waste Management System</a:t>
            </a:r>
            <a:r>
              <a:rPr lang="en-US" sz="8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uses IoT sensors to continuously monitor waste bins, transmit fill-level data to a central server, and automatically trigger collection alerts when thresholds are exceeded.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228030"/>
            <a:ext cx="10795524" cy="4858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24272" y="1489488"/>
            <a:ext cx="188919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 Sensors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24272" y="1847127"/>
            <a:ext cx="1889194" cy="36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bin fill levels continuously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92705" y="5133024"/>
            <a:ext cx="189957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Data Transfer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92705" y="5490663"/>
            <a:ext cx="1899574" cy="36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 readings to central server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40378" y="1453156"/>
            <a:ext cx="188919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Analysis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040378" y="1810795"/>
            <a:ext cx="1889194" cy="36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Evaluate fill levels and trends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08812" y="5133024"/>
            <a:ext cx="1889193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Collection Alert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908812" y="5490663"/>
            <a:ext cx="1889193" cy="36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 automated pickup notifications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98086" y="6157020"/>
            <a:ext cx="1140510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centralized, secure, and user-friendly platform gives authorities real-time information to make smarter, faster collection decisions — replacing guesswork with data-driven action.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1" y="470297"/>
            <a:ext cx="4437944" cy="5917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623788"/>
            <a:ext cx="6223638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Project Objectives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269971" y="1152922"/>
            <a:ext cx="6223638" cy="1202829"/>
          </a:xfrm>
          <a:prstGeom prst="roundRect">
            <a:avLst>
              <a:gd name="adj" fmla="val 468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10263" y="1293217"/>
            <a:ext cx="402024" cy="402034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0790" y="1403747"/>
            <a:ext cx="180871" cy="1808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10263" y="1785243"/>
            <a:ext cx="5943054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10263" y="2036266"/>
            <a:ext cx="5943054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waste-bin fill levels in real time and detect when bins reach predefined thresholds.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269971" y="2445742"/>
            <a:ext cx="6223638" cy="1202829"/>
          </a:xfrm>
          <a:prstGeom prst="roundRect">
            <a:avLst>
              <a:gd name="adj" fmla="val 468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10263" y="2586038"/>
            <a:ext cx="402024" cy="402034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0790" y="2696567"/>
            <a:ext cx="180871" cy="1808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10263" y="3078063"/>
            <a:ext cx="5943054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Automated Alerts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410263" y="3329087"/>
            <a:ext cx="5943054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Automatically generate collection alerts when fill levels exceed set thresholds.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269971" y="3738562"/>
            <a:ext cx="6223638" cy="1202829"/>
          </a:xfrm>
          <a:prstGeom prst="roundRect">
            <a:avLst>
              <a:gd name="adj" fmla="val 468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10263" y="3878858"/>
            <a:ext cx="402024" cy="402034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0790" y="3989388"/>
            <a:ext cx="180871" cy="1808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10263" y="4370884"/>
            <a:ext cx="5943054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Optimized Schedules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410263" y="4621907"/>
            <a:ext cx="5943054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 overflowing bins and avoid unnecessary collection of partially filled bins.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269971" y="5031383"/>
            <a:ext cx="6223638" cy="1202829"/>
          </a:xfrm>
          <a:prstGeom prst="roundRect">
            <a:avLst>
              <a:gd name="adj" fmla="val 468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410263" y="5171678"/>
            <a:ext cx="402024" cy="402034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0790" y="5282208"/>
            <a:ext cx="180871" cy="1808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10263" y="5663704"/>
            <a:ext cx="5943054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Sustainable Cities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410263" y="5914727"/>
            <a:ext cx="5943054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efficiency, reduce operational costs, and support cleaner urban environments.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3442"/>
            <a:ext cx="10795524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IoT-Based Waste-Level Monitoring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012825"/>
            <a:ext cx="4715749" cy="47158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78742" y="3137694"/>
            <a:ext cx="5821118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How the Sensors Work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78742" y="3349823"/>
            <a:ext cx="5821118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Ultrasonic sensors</a:t>
            </a:r>
            <a:r>
              <a:rPr lang="en-US" sz="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are installed inside waste bins to continuously measure the available space and fill level. IoT communication modules then transmit this data to the central monitoring system in real time.</a:t>
            </a:r>
            <a:endParaRPr lang="en-US" sz="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772" y="5858520"/>
            <a:ext cx="158944" cy="1589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2465" y="5855295"/>
            <a:ext cx="3207166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Ultrasonic Sensing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042465" y="6044902"/>
            <a:ext cx="3207166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Measures waste level inside each bin with precision.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9662" y="5858520"/>
            <a:ext cx="158944" cy="1589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4355" y="5855295"/>
            <a:ext cx="3207265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 Transmission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4664355" y="6044902"/>
            <a:ext cx="3207265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Communication modules relay sensor data to the cloud instantly.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1651" y="5858520"/>
            <a:ext cx="158944" cy="1589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86344" y="5855295"/>
            <a:ext cx="3207265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Cloud Analytics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8286344" y="6044902"/>
            <a:ext cx="3207265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analytics processes data, replacing fixed collection schedules entirely.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7814"/>
            <a:ext cx="10795524" cy="522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Working Process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98086" y="1446709"/>
            <a:ext cx="11405108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complete, step-by-step workflow — from sensor installation to alert delivery and data recording.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98086" y="1893391"/>
            <a:ext cx="3552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8086" y="2176264"/>
            <a:ext cx="5318686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6" name="Text 4"/>
          <p:cNvSpPr/>
          <p:nvPr/>
        </p:nvSpPr>
        <p:spPr>
          <a:xfrm>
            <a:off x="698086" y="2303165"/>
            <a:ext cx="53186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Sensor Installation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8086" y="2659261"/>
            <a:ext cx="5318686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Ultrasonic sensors are installed inside waste bins.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74923" y="1893391"/>
            <a:ext cx="3552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4923" y="2176264"/>
            <a:ext cx="5318686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0" name="Text 8"/>
          <p:cNvSpPr/>
          <p:nvPr/>
        </p:nvSpPr>
        <p:spPr>
          <a:xfrm>
            <a:off x="6174923" y="2303165"/>
            <a:ext cx="53186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Level Measurement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4923" y="2659261"/>
            <a:ext cx="5318686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Sensors measure the waste level inside each bin continuously.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8086" y="3219252"/>
            <a:ext cx="3552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8086" y="3502124"/>
            <a:ext cx="5318686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98086" y="3629025"/>
            <a:ext cx="53186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Data Transmission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8086" y="3985121"/>
            <a:ext cx="5318686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 data is transmitted via IoT communication modules to the central server.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74923" y="3219252"/>
            <a:ext cx="3552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74923" y="3502124"/>
            <a:ext cx="5318686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174923" y="3629025"/>
            <a:ext cx="53186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Fill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4923" y="3985121"/>
            <a:ext cx="5318686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analyzes the current fill percentage and compares it with the predefined threshold.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8086" y="4813796"/>
            <a:ext cx="3552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8086" y="5096669"/>
            <a:ext cx="5318686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98086" y="5223570"/>
            <a:ext cx="53186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Alert Generation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8086" y="5579666"/>
            <a:ext cx="5318686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 the threshold is exceeded, an automated collection notification is generated and sent to personnel.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74923" y="4813796"/>
            <a:ext cx="3552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06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74923" y="5096669"/>
            <a:ext cx="5318686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174923" y="5223570"/>
            <a:ext cx="53186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Data Recording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4923" y="5579666"/>
            <a:ext cx="5318686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Collection information is recorded for future monitoring and analysis.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Monitoring Dashboard and Analytics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72641"/>
            <a:ext cx="5828063" cy="582820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03944" y="916583"/>
            <a:ext cx="4867848" cy="5940326"/>
          </a:xfrm>
          <a:prstGeom prst="roundRect">
            <a:avLst>
              <a:gd name="adj" fmla="val 1475"/>
            </a:avLst>
          </a:prstGeom>
          <a:solidFill>
            <a:srgbClr val="FFE1F7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803656" y="3246537"/>
            <a:ext cx="46684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the Dashboard Provides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03656" y="3442990"/>
            <a:ext cx="4668423" cy="804763"/>
          </a:xfrm>
          <a:prstGeom prst="rect">
            <a:avLst/>
          </a:prstGeom>
          <a:noFill/>
          <a:ln/>
        </p:spPr>
        <p:txBody>
          <a:bodyPr wrap="square" lIns="0" tIns="39896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Current bin status</a:t>
            </a: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waste-bin fill percentage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Real-time fill-level information</a:t>
            </a: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all monitored bins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Collection alerts</a:t>
            </a: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triggered by threshold breaches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Collection history</a:t>
            </a: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waste collection records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Route optimization reports</a:t>
            </a: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efficient dispatch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Real-time analytics</a:t>
            </a: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data-driven decision making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803656" y="4292600"/>
            <a:ext cx="466842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dashboard enables municipal authorities and waste management personnel to identify bins requiring collection and improve collection planning at a glance.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2" y="505619"/>
            <a:ext cx="4384962" cy="5846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659705"/>
            <a:ext cx="6223638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Benefits and Advantages</a:t>
            </a:r>
            <a:endParaRPr lang="en-US" sz="3450" dirty="0"/>
          </a:p>
        </p:txBody>
      </p:sp>
      <p:sp>
        <p:nvSpPr>
          <p:cNvPr id="5" name="Shape 2"/>
          <p:cNvSpPr/>
          <p:nvPr/>
        </p:nvSpPr>
        <p:spPr>
          <a:xfrm>
            <a:off x="5269971" y="1472605"/>
            <a:ext cx="6223638" cy="4725591"/>
          </a:xfrm>
          <a:prstGeom prst="roundRect">
            <a:avLst>
              <a:gd name="adj" fmla="val 1662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76321" y="1478955"/>
            <a:ext cx="3105469" cy="2966740"/>
          </a:xfrm>
          <a:custGeom>
            <a:avLst/>
            <a:gdLst/>
            <a:ahLst/>
            <a:cxnLst/>
            <a:rect l="l" t="t" r="r" b="b"/>
            <a:pathLst>
              <a:path w="3105469" h="2966740">
                <a:moveTo>
                  <a:pt x="65454" y="0"/>
                </a:moveTo>
                <a:lnTo>
                  <a:pt x="3105469" y="0"/>
                </a:lnTo>
                <a:lnTo>
                  <a:pt x="3105469" y="2966740"/>
                </a:lnTo>
                <a:lnTo>
                  <a:pt x="0" y="2966740"/>
                </a:lnTo>
                <a:lnTo>
                  <a:pt x="0" y="65456"/>
                </a:lnTo>
                <a:arcTo wR="65454" hR="65456" stAng="10800000" swAng="5400000"/>
                <a:close/>
              </a:path>
            </a:pathLst>
          </a:custGeom>
          <a:solidFill>
            <a:srgbClr val="F9D2EB"/>
          </a:solidFill>
          <a:ln/>
        </p:spPr>
      </p:sp>
      <p:sp>
        <p:nvSpPr>
          <p:cNvPr id="7" name="Text 4"/>
          <p:cNvSpPr/>
          <p:nvPr/>
        </p:nvSpPr>
        <p:spPr>
          <a:xfrm>
            <a:off x="5463245" y="1665883"/>
            <a:ext cx="273162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Operational Efficiency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63245" y="2046089"/>
            <a:ext cx="2731622" cy="2212677"/>
          </a:xfrm>
          <a:prstGeom prst="rect">
            <a:avLst/>
          </a:prstGeom>
          <a:noFill/>
          <a:ln/>
        </p:spPr>
        <p:txBody>
          <a:bodyPr wrap="square" lIns="0" tIns="74805" rIns="0" bIns="0" rtlCol="0" anchor="t">
            <a:normAutofit/>
          </a:bodyPr>
          <a:lstStyle/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overflowing waste bins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timely waste collection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Optimizes collection schedules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overall operational efficiency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1478955"/>
            <a:ext cx="3105469" cy="2966740"/>
          </a:xfrm>
          <a:custGeom>
            <a:avLst/>
            <a:gdLst/>
            <a:ahLst/>
            <a:cxnLst/>
            <a:rect l="l" t="t" r="r" b="b"/>
            <a:pathLst>
              <a:path w="3105469" h="2966740">
                <a:moveTo>
                  <a:pt x="0" y="0"/>
                </a:moveTo>
                <a:lnTo>
                  <a:pt x="3040015" y="0"/>
                </a:lnTo>
                <a:arcTo wR="65454" hR="65456" stAng="16200000" swAng="5400000"/>
                <a:lnTo>
                  <a:pt x="3105469" y="2966740"/>
                </a:lnTo>
                <a:lnTo>
                  <a:pt x="0" y="2966740"/>
                </a:lnTo>
                <a:lnTo>
                  <a:pt x="0" y="0"/>
                </a:lnTo>
                <a:close/>
              </a:path>
            </a:pathLst>
          </a:custGeom>
          <a:solidFill>
            <a:srgbClr val="F9D2EB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1478955"/>
            <a:ext cx="25399" cy="2966740"/>
          </a:xfrm>
          <a:prstGeom prst="roundRect">
            <a:avLst>
              <a:gd name="adj" fmla="val 50001"/>
            </a:avLst>
          </a:prstGeom>
          <a:solidFill>
            <a:srgbClr val="DFB8D1"/>
          </a:solidFill>
          <a:ln/>
        </p:spPr>
      </p:sp>
      <p:sp>
        <p:nvSpPr>
          <p:cNvPr id="11" name="Text 8"/>
          <p:cNvSpPr/>
          <p:nvPr/>
        </p:nvSpPr>
        <p:spPr>
          <a:xfrm>
            <a:off x="8568714" y="1665883"/>
            <a:ext cx="273162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Cost Savings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568714" y="2046089"/>
            <a:ext cx="2731622" cy="1571724"/>
          </a:xfrm>
          <a:prstGeom prst="rect">
            <a:avLst/>
          </a:prstGeom>
          <a:noFill/>
          <a:ln/>
        </p:spPr>
        <p:txBody>
          <a:bodyPr wrap="square" lIns="0" tIns="74805" rIns="0" bIns="0" rtlCol="0" anchor="t">
            <a:normAutofit/>
          </a:bodyPr>
          <a:lstStyle/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Prevents unnecessary trips to partially filled bins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waste collection costs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Helps personnel respond to alerts efficiently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76321" y="4445695"/>
            <a:ext cx="6210938" cy="1746151"/>
          </a:xfrm>
          <a:custGeom>
            <a:avLst/>
            <a:gdLst/>
            <a:ahLst/>
            <a:cxnLst/>
            <a:rect l="l" t="t" r="r" b="b"/>
            <a:pathLst>
              <a:path w="6210938" h="1746151">
                <a:moveTo>
                  <a:pt x="0" y="0"/>
                </a:moveTo>
                <a:lnTo>
                  <a:pt x="6210938" y="0"/>
                </a:lnTo>
                <a:lnTo>
                  <a:pt x="6210938" y="1680695"/>
                </a:lnTo>
                <a:arcTo wR="65454" hR="65456" stAng="0" swAng="5400000"/>
                <a:lnTo>
                  <a:pt x="65454" y="1746151"/>
                </a:lnTo>
                <a:arcTo wR="65454" hR="65456" stAng="5400000" swAng="5400000"/>
                <a:lnTo>
                  <a:pt x="0" y="0"/>
                </a:lnTo>
                <a:close/>
              </a:path>
            </a:pathLst>
          </a:custGeom>
          <a:solidFill>
            <a:srgbClr val="F9D2EB"/>
          </a:solidFill>
          <a:ln/>
        </p:spPr>
      </p:sp>
      <p:sp>
        <p:nvSpPr>
          <p:cNvPr id="14" name="Shape 11"/>
          <p:cNvSpPr/>
          <p:nvPr/>
        </p:nvSpPr>
        <p:spPr>
          <a:xfrm>
            <a:off x="5276321" y="4445695"/>
            <a:ext cx="6210938" cy="25400"/>
          </a:xfrm>
          <a:prstGeom prst="roundRect">
            <a:avLst>
              <a:gd name="adj" fmla="val 49999"/>
            </a:avLst>
          </a:prstGeom>
          <a:solidFill>
            <a:srgbClr val="DFB8D1"/>
          </a:solidFill>
          <a:ln/>
        </p:spPr>
      </p:sp>
      <p:sp>
        <p:nvSpPr>
          <p:cNvPr id="15" name="Text 12"/>
          <p:cNvSpPr/>
          <p:nvPr/>
        </p:nvSpPr>
        <p:spPr>
          <a:xfrm>
            <a:off x="5463245" y="4632623"/>
            <a:ext cx="583709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Sustainability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463245" y="5012829"/>
            <a:ext cx="5837091" cy="992088"/>
          </a:xfrm>
          <a:prstGeom prst="rect">
            <a:avLst/>
          </a:prstGeom>
          <a:noFill/>
          <a:ln/>
        </p:spPr>
        <p:txBody>
          <a:bodyPr wrap="square" lIns="0" tIns="74805" rIns="0" bIns="0" rtlCol="0" anchor="t">
            <a:normAutofit/>
          </a:bodyPr>
          <a:lstStyle/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real-time visibility of bin conditions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cleaner urban environments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Contributes to sustainable waste management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8515"/>
            <a:ext cx="10795524" cy="48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Applications and Scope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486297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Where the System Can Be Deployed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83073"/>
            <a:ext cx="412938" cy="4129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2466975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Municipalities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8086" y="2846586"/>
            <a:ext cx="519625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City-wide waste monitoring and optimized public collection routes.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361730"/>
            <a:ext cx="412938" cy="4129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8086" y="3945632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Educational Institutions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98086" y="4325243"/>
            <a:ext cx="519625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Campus-wide bin monitoring for schools, colleges, and universities.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4840387"/>
            <a:ext cx="412938" cy="4129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8086" y="5424289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Hospitals &amp; Communities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98086" y="5803900"/>
            <a:ext cx="519625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Hygienic waste management for healthcare facilities and residential areas.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303706" y="1486297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Scope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303706" y="1865908"/>
            <a:ext cx="519625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supports </a:t>
            </a:r>
            <a:r>
              <a:rPr lang="en-US" sz="130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centralized monitoring of multiple waste bins</a:t>
            </a: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helping authorities manage collection operations more efficiently through: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03706" y="2472134"/>
            <a:ext cx="5196254" cy="820440"/>
          </a:xfrm>
          <a:prstGeom prst="rect">
            <a:avLst/>
          </a:prstGeom>
          <a:noFill/>
          <a:ln/>
        </p:spPr>
        <p:txBody>
          <a:bodyPr wrap="square" lIns="0" tIns="66078" rIns="0" bIns="0" rtlCol="0" anchor="t">
            <a:normAutofit/>
          </a:bodyPr>
          <a:lstStyle/>
          <a:p>
            <a:pPr marL="264160" indent="-264160" algn="l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data from distributed IoT sensors</a:t>
            </a:r>
            <a:endParaRPr lang="en-US" sz="1300" dirty="0"/>
          </a:p>
          <a:p>
            <a:pPr marL="264160" indent="-264160" algn="l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alerts when thresholds are exceeded</a:t>
            </a:r>
            <a:endParaRPr lang="en-US" sz="1300" dirty="0"/>
          </a:p>
          <a:p>
            <a:pPr marL="264160" indent="-264160" algn="l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Collection analytics for continuous improvement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303706" y="3446462"/>
            <a:ext cx="5196254" cy="811808"/>
          </a:xfrm>
          <a:prstGeom prst="roundRect">
            <a:avLst>
              <a:gd name="adj" fmla="val 8547"/>
            </a:avLst>
          </a:prstGeom>
          <a:solidFill>
            <a:srgbClr val="F9D2E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801" y="3651448"/>
            <a:ext cx="206469" cy="1651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40366" y="3610769"/>
            <a:ext cx="449449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is designed to be </a:t>
            </a:r>
            <a:r>
              <a:rPr lang="en-US" sz="13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secure and scalable</a:t>
            </a: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suitable for small campuses and large smart city deployments alike.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" y="482699"/>
            <a:ext cx="4419192" cy="5892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61876"/>
            <a:ext cx="6223638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269971" y="1186359"/>
            <a:ext cx="6223638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120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Intelligent Waste Management System</a:t>
            </a: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delivers a modern, data-driven approach to waste collection — combining IoT sensors, cloud-based monitoring, real-time analytics, and automated alerts into one unified platform.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269971" y="2155428"/>
            <a:ext cx="62236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 Monitoring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269971" y="2450108"/>
            <a:ext cx="6223638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IoT sensors track bin fill levels around the clock, providing always-current data.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69971" y="3090366"/>
            <a:ext cx="62236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Automated Alerts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69971" y="3385046"/>
            <a:ext cx="6223638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Collection personnel are notified the moment bins exceed predefined thresholds.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69971" y="4025305"/>
            <a:ext cx="62236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Smarter Operations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69971" y="4319984"/>
            <a:ext cx="6223638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Dashboards, history, and route optimization reduce overflow and unnecessary trips.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69971" y="4960243"/>
            <a:ext cx="62236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Sustainable Impact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69971" y="5254923"/>
            <a:ext cx="6223638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Cleaner, more efficient, and more intelligent urban environments for everyone.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98962" y="5733455"/>
            <a:ext cx="5994647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"Smart waste monitoring and automated collection alerts enable efficient, cost-effective, and sustainable waste management."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69971" y="5601990"/>
            <a:ext cx="19050" cy="694134"/>
          </a:xfrm>
          <a:prstGeom prst="roundRect">
            <a:avLst>
              <a:gd name="adj" fmla="val 49999"/>
            </a:avLst>
          </a:prstGeom>
          <a:solidFill>
            <a:srgbClr val="E851B2"/>
          </a:solidFill>
          <a:ln/>
        </p:spPr>
      </p:sp>
      <p:sp>
        <p:nvSpPr>
          <p:cNvPr id="16" name="Shape 13"/>
          <p:cNvSpPr/>
          <p:nvPr/>
        </p:nvSpPr>
        <p:spPr>
          <a:xfrm>
            <a:off x="5250922" y="1964630"/>
            <a:ext cx="6261737" cy="3810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7" name="Shape 14"/>
          <p:cNvSpPr/>
          <p:nvPr/>
        </p:nvSpPr>
        <p:spPr>
          <a:xfrm>
            <a:off x="5250922" y="2899569"/>
            <a:ext cx="6261737" cy="3810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8" name="Shape 15"/>
          <p:cNvSpPr/>
          <p:nvPr/>
        </p:nvSpPr>
        <p:spPr>
          <a:xfrm>
            <a:off x="5250922" y="3834507"/>
            <a:ext cx="6261737" cy="3810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9" name="Shape 16"/>
          <p:cNvSpPr/>
          <p:nvPr/>
        </p:nvSpPr>
        <p:spPr>
          <a:xfrm>
            <a:off x="5250922" y="4769445"/>
            <a:ext cx="6261737" cy="38100"/>
          </a:xfrm>
          <a:prstGeom prst="rect">
            <a:avLst/>
          </a:prstGeom>
          <a:solidFill>
            <a:srgbClr val="E851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835</Words>
  <Application>Microsoft Office PowerPoint</Application>
  <PresentationFormat>Widescreen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Noto Serif SemiBold</vt:lpstr>
      <vt:lpstr>Source Sans 3</vt:lpstr>
      <vt:lpstr>Arial</vt:lpstr>
      <vt:lpstr>Source Sans 3 Bold</vt:lpstr>
      <vt:lpstr>Noto 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2</cp:revision>
  <dcterms:created xsi:type="dcterms:W3CDTF">2026-08-19T06:25:15Z</dcterms:created>
  <dcterms:modified xsi:type="dcterms:W3CDTF">2026-10-02T16:15:04Z</dcterms:modified>
</cp:coreProperties>
</file>